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Fraunces ExtraBold" panose="020B0604020202020204" charset="0"/>
      <p:regular r:id="rId17"/>
    </p:embeddedFont>
    <p:embeddedFont>
      <p:font typeface="Nobile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6255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91641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NexNote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5162" y="993800"/>
            <a:ext cx="8213675" cy="1146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Full-Stack Notes App with Complete CI/CD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65162" y="2326928"/>
            <a:ext cx="821367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production-grade MERN stack application — React, Node.js, MongoDB — backed by a fully automated DevOps pipeline: Docker, Kubernetes, Jenkins, GitHub Actions, Prometheus &amp; Grafana.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5162" y="2879006"/>
            <a:ext cx="499095" cy="244376"/>
          </a:xfrm>
          <a:prstGeom prst="roundRect">
            <a:avLst>
              <a:gd name="adj" fmla="val 39158"/>
            </a:avLst>
          </a:prstGeom>
          <a:solidFill>
            <a:srgbClr val="DDEEE0"/>
          </a:solidFill>
          <a:ln/>
        </p:spPr>
      </p:sp>
      <p:sp>
        <p:nvSpPr>
          <p:cNvPr id="6" name="Text 4"/>
          <p:cNvSpPr/>
          <p:nvPr/>
        </p:nvSpPr>
        <p:spPr>
          <a:xfrm>
            <a:off x="544860" y="2918817"/>
            <a:ext cx="796900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REACT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30709" y="2879006"/>
            <a:ext cx="593899" cy="244376"/>
          </a:xfrm>
          <a:prstGeom prst="roundRect">
            <a:avLst>
              <a:gd name="adj" fmla="val 39158"/>
            </a:avLst>
          </a:prstGeom>
          <a:solidFill>
            <a:srgbClr val="DDEEE0"/>
          </a:solidFill>
          <a:ln/>
        </p:spPr>
      </p:sp>
      <p:sp>
        <p:nvSpPr>
          <p:cNvPr id="8" name="Text 6"/>
          <p:cNvSpPr/>
          <p:nvPr/>
        </p:nvSpPr>
        <p:spPr>
          <a:xfrm>
            <a:off x="1110407" y="2918817"/>
            <a:ext cx="891704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NODE.JS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91060" y="2879006"/>
            <a:ext cx="723379" cy="244376"/>
          </a:xfrm>
          <a:prstGeom prst="roundRect">
            <a:avLst>
              <a:gd name="adj" fmla="val 39158"/>
            </a:avLst>
          </a:prstGeom>
          <a:solidFill>
            <a:srgbClr val="DDEEE0"/>
          </a:solidFill>
          <a:ln/>
        </p:spPr>
      </p:sp>
      <p:sp>
        <p:nvSpPr>
          <p:cNvPr id="10" name="Text 8"/>
          <p:cNvSpPr/>
          <p:nvPr/>
        </p:nvSpPr>
        <p:spPr>
          <a:xfrm>
            <a:off x="1770757" y="2918817"/>
            <a:ext cx="1021184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MONGODB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80890" y="2879006"/>
            <a:ext cx="586755" cy="244376"/>
          </a:xfrm>
          <a:prstGeom prst="roundRect">
            <a:avLst>
              <a:gd name="adj" fmla="val 39158"/>
            </a:avLst>
          </a:prstGeom>
          <a:solidFill>
            <a:srgbClr val="DDEEE0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588" y="2918817"/>
            <a:ext cx="884560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DOCKER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134097" y="2879006"/>
            <a:ext cx="362545" cy="244376"/>
          </a:xfrm>
          <a:prstGeom prst="roundRect">
            <a:avLst>
              <a:gd name="adj" fmla="val 39158"/>
            </a:avLst>
          </a:prstGeom>
          <a:solidFill>
            <a:srgbClr val="DDEEE0"/>
          </a:solidFill>
          <a:ln/>
        </p:spPr>
      </p:sp>
      <p:sp>
        <p:nvSpPr>
          <p:cNvPr id="14" name="Text 12"/>
          <p:cNvSpPr/>
          <p:nvPr/>
        </p:nvSpPr>
        <p:spPr>
          <a:xfrm>
            <a:off x="3213795" y="2918817"/>
            <a:ext cx="660350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K8S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5162" y="3263503"/>
            <a:ext cx="602605" cy="244376"/>
          </a:xfrm>
          <a:prstGeom prst="roundRect">
            <a:avLst>
              <a:gd name="adj" fmla="val 39158"/>
            </a:avLst>
          </a:prstGeom>
          <a:solidFill>
            <a:srgbClr val="DDEEE0"/>
          </a:solidFill>
          <a:ln/>
        </p:spPr>
      </p:sp>
      <p:sp>
        <p:nvSpPr>
          <p:cNvPr id="16" name="Text 14"/>
          <p:cNvSpPr/>
          <p:nvPr/>
        </p:nvSpPr>
        <p:spPr>
          <a:xfrm>
            <a:off x="544860" y="3303315"/>
            <a:ext cx="900410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JENKINS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134219" y="3263503"/>
            <a:ext cx="1071042" cy="244376"/>
          </a:xfrm>
          <a:prstGeom prst="roundRect">
            <a:avLst>
              <a:gd name="adj" fmla="val 39158"/>
            </a:avLst>
          </a:prstGeom>
          <a:solidFill>
            <a:srgbClr val="DDEEE0"/>
          </a:solidFill>
          <a:ln/>
        </p:spPr>
      </p:sp>
      <p:sp>
        <p:nvSpPr>
          <p:cNvPr id="18" name="Text 16"/>
          <p:cNvSpPr/>
          <p:nvPr/>
        </p:nvSpPr>
        <p:spPr>
          <a:xfrm>
            <a:off x="1213917" y="3303315"/>
            <a:ext cx="1368847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GITHUB ACTIONS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71713" y="3263503"/>
            <a:ext cx="890736" cy="244376"/>
          </a:xfrm>
          <a:prstGeom prst="roundRect">
            <a:avLst>
              <a:gd name="adj" fmla="val 39158"/>
            </a:avLst>
          </a:prstGeom>
          <a:solidFill>
            <a:srgbClr val="DDEEE0"/>
          </a:solidFill>
          <a:ln/>
        </p:spPr>
      </p:sp>
      <p:sp>
        <p:nvSpPr>
          <p:cNvPr id="20" name="Text 18"/>
          <p:cNvSpPr/>
          <p:nvPr/>
        </p:nvSpPr>
        <p:spPr>
          <a:xfrm>
            <a:off x="2351410" y="3303315"/>
            <a:ext cx="1188541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PROMETHEUS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28901" y="3263503"/>
            <a:ext cx="675233" cy="244376"/>
          </a:xfrm>
          <a:prstGeom prst="roundRect">
            <a:avLst>
              <a:gd name="adj" fmla="val 39158"/>
            </a:avLst>
          </a:prstGeom>
          <a:solidFill>
            <a:srgbClr val="DDEEE0"/>
          </a:solidFill>
          <a:ln/>
        </p:spPr>
      </p:sp>
      <p:sp>
        <p:nvSpPr>
          <p:cNvPr id="22" name="Text 20"/>
          <p:cNvSpPr/>
          <p:nvPr/>
        </p:nvSpPr>
        <p:spPr>
          <a:xfrm>
            <a:off x="3308598" y="3303315"/>
            <a:ext cx="973038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GRAFANA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5162" y="3648001"/>
            <a:ext cx="867087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[Anjali]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5162" y="3994100"/>
            <a:ext cx="8213675" cy="757758"/>
          </a:xfrm>
          <a:prstGeom prst="roundRect">
            <a:avLst>
              <a:gd name="adj" fmla="val 15786"/>
            </a:avLst>
          </a:prstGeom>
          <a:solidFill>
            <a:srgbClr val="CCE6D1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6" y="4181996"/>
            <a:ext cx="166092" cy="13290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97062" y="4151858"/>
            <a:ext cx="7648873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🎯 </a:t>
            </a:r>
            <a:r>
              <a:rPr lang="en-US" sz="10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Takeaway:</a:t>
            </a: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NexNote demonstrates a complete, production-ready DevOps pipeline — from code commit to monitored deployment.</a:t>
            </a:r>
            <a:endParaRPr lang="en-US" sz="1000" dirty="0"/>
          </a:p>
        </p:txBody>
      </p:sp>
      <p:sp>
        <p:nvSpPr>
          <p:cNvPr id="29" name="Shape 19">
            <a:extLst>
              <a:ext uri="{FF2B5EF4-FFF2-40B4-BE49-F238E27FC236}">
                <a16:creationId xmlns:a16="http://schemas.microsoft.com/office/drawing/2014/main" id="{8F19F2CD-C8FC-6E8F-D929-4D8B9E2453E6}"/>
              </a:ext>
            </a:extLst>
          </p:cNvPr>
          <p:cNvSpPr/>
          <p:nvPr/>
        </p:nvSpPr>
        <p:spPr>
          <a:xfrm>
            <a:off x="3993608" y="3259243"/>
            <a:ext cx="675233" cy="244376"/>
          </a:xfrm>
          <a:prstGeom prst="roundRect">
            <a:avLst>
              <a:gd name="adj" fmla="val 39158"/>
            </a:avLst>
          </a:prstGeom>
          <a:solidFill>
            <a:srgbClr val="DDEEE0"/>
          </a:solidFill>
          <a:ln/>
        </p:spPr>
        <p:txBody>
          <a:bodyPr/>
          <a:lstStyle/>
          <a:p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EC2</a:t>
            </a:r>
            <a:endParaRPr lang="en-IN" sz="1000" dirty="0"/>
          </a:p>
        </p:txBody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8614E854-4054-1AD4-555C-F40C4FE23DB2}"/>
              </a:ext>
            </a:extLst>
          </p:cNvPr>
          <p:cNvSpPr/>
          <p:nvPr/>
        </p:nvSpPr>
        <p:spPr>
          <a:xfrm>
            <a:off x="4735293" y="3250360"/>
            <a:ext cx="1206306" cy="244376"/>
          </a:xfrm>
          <a:prstGeom prst="roundRect">
            <a:avLst>
              <a:gd name="adj" fmla="val 39158"/>
            </a:avLst>
          </a:prstGeom>
          <a:solidFill>
            <a:srgbClr val="DDEEE0"/>
          </a:solidFill>
          <a:ln/>
        </p:spPr>
        <p:txBody>
          <a:bodyPr/>
          <a:lstStyle/>
          <a:p>
            <a:r>
              <a:rPr lang="en-US" sz="10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Alertmanager</a:t>
            </a:r>
            <a:endParaRPr lang="en-IN" sz="10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B3B222-FE7E-7F9F-AA54-B9334AAF59FD}"/>
              </a:ext>
            </a:extLst>
          </p:cNvPr>
          <p:cNvSpPr/>
          <p:nvPr/>
        </p:nvSpPr>
        <p:spPr>
          <a:xfrm>
            <a:off x="7996554" y="4891979"/>
            <a:ext cx="1138554" cy="20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1AECADF9-9772-15D7-AFCB-A3C229AFD09A}"/>
              </a:ext>
            </a:extLst>
          </p:cNvPr>
          <p:cNvSpPr/>
          <p:nvPr/>
        </p:nvSpPr>
        <p:spPr>
          <a:xfrm>
            <a:off x="3616226" y="2872773"/>
            <a:ext cx="675233" cy="244376"/>
          </a:xfrm>
          <a:prstGeom prst="roundRect">
            <a:avLst>
              <a:gd name="adj" fmla="val 39158"/>
            </a:avLst>
          </a:prstGeom>
          <a:solidFill>
            <a:srgbClr val="DDEEE0"/>
          </a:solidFill>
          <a:ln/>
        </p:spPr>
        <p:txBody>
          <a:bodyPr/>
          <a:lstStyle/>
          <a:p>
            <a:r>
              <a:rPr lang="en-US" sz="1000" dirty="0">
                <a:solidFill>
                  <a:srgbClr val="405449"/>
                </a:solidFill>
                <a:latin typeface="Nobile" pitchFamily="34" charset="0"/>
              </a:rPr>
              <a:t>Redis</a:t>
            </a:r>
            <a:endParaRPr lang="en-IN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3454"/>
            <a:ext cx="727650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Why DevOps? </a:t>
            </a:r>
            <a:r>
              <a:rPr lang="en-US" sz="275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Problem </a:t>
            </a: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Solved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379041"/>
            <a:ext cx="4107135" cy="2042815"/>
          </a:xfrm>
          <a:prstGeom prst="roundRect">
            <a:avLst>
              <a:gd name="adj" fmla="val 9993"/>
            </a:avLst>
          </a:prstGeom>
          <a:solidFill>
            <a:srgbClr val="438951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52080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❌ Before DevOps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1884015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Manual deployment — </a:t>
            </a:r>
            <a:r>
              <a:rPr lang="en-US" sz="11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30+ minutes</a:t>
            </a: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per release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Human errors causing unexpected downtime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Inconsistent environments across dev, staging, prod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visibility into deployment health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52080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✅</a:t>
            </a: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After DevOps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1884015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deployment — </a:t>
            </a: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under 5 minutes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Zero downtime with rolling updates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Consistent, reproducible containerized environments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monitoring with Prometheus &amp; Grafana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3067496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Code push → Everything automatic.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581326"/>
            <a:ext cx="8151763" cy="838721"/>
          </a:xfrm>
          <a:prstGeom prst="roundRect">
            <a:avLst>
              <a:gd name="adj" fmla="val 15213"/>
            </a:avLst>
          </a:prstGeom>
          <a:solidFill>
            <a:srgbClr val="CCE6D1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786857"/>
            <a:ext cx="177180" cy="14175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56816" y="3758505"/>
            <a:ext cx="7549307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🎯 </a:t>
            </a:r>
            <a:r>
              <a:rPr lang="en-US" sz="11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Takeaway:</a:t>
            </a: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DevOps eliminates manual to0l — every code push triggers a reliable, automated deployment pipeline.</a:t>
            </a:r>
            <a:endParaRPr lang="en-US" sz="11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B4434D-C052-B947-12AD-7BC5F5D01CD7}"/>
              </a:ext>
            </a:extLst>
          </p:cNvPr>
          <p:cNvSpPr/>
          <p:nvPr/>
        </p:nvSpPr>
        <p:spPr>
          <a:xfrm>
            <a:off x="7996554" y="4891979"/>
            <a:ext cx="1138554" cy="20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304874"/>
            <a:ext cx="3013621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Project Architecture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209452" y="743322"/>
            <a:ext cx="672502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NexNote's architecture follows a clean </a:t>
            </a: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three-tier microservices model</a:t>
            </a: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each component isolated in its own Docker container, orchestrated by Kubernetes on AWS EC2.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452" y="1081832"/>
            <a:ext cx="6725022" cy="26728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45620" y="2972387"/>
            <a:ext cx="1475570" cy="184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React Frontend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911157" y="3209298"/>
            <a:ext cx="1810032" cy="12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88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SPA served by Nginx container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011380" y="2395378"/>
            <a:ext cx="1932769" cy="184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Node.js Backend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011380" y="2632289"/>
            <a:ext cx="1764125" cy="249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API container handling requests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45517" y="1988675"/>
            <a:ext cx="1475569" cy="184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MongoDB Database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1055" y="2225585"/>
            <a:ext cx="1810032" cy="12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88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Persistent data in DB container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11380" y="1434516"/>
            <a:ext cx="1932769" cy="184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Kubernetes Cluster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011380" y="1671427"/>
            <a:ext cx="2221325" cy="12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Orchestrates containers on EC2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209452" y="3830017"/>
            <a:ext cx="6725022" cy="596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Frontend:</a:t>
            </a: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React SPA served via Nginx in a container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Backend:</a:t>
            </a: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Node.js + Express REST API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Database:</a:t>
            </a: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MongoDB — persistent storage with StatefulSet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All three run as </a:t>
            </a: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Docker containers</a:t>
            </a: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on </a:t>
            </a: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Kubernetes (K3s)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1209452" y="4501976"/>
            <a:ext cx="6725022" cy="336575"/>
          </a:xfrm>
          <a:prstGeom prst="roundRect">
            <a:avLst>
              <a:gd name="adj" fmla="val 26062"/>
            </a:avLst>
          </a:prstGeom>
          <a:solidFill>
            <a:srgbClr val="CCE6D1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860" y="4628927"/>
            <a:ext cx="121816" cy="974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26084" y="4593282"/>
            <a:ext cx="6768182" cy="136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🎯 </a:t>
            </a:r>
            <a:r>
              <a:rPr lang="en-US" sz="7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Takeaway:</a:t>
            </a:r>
            <a:r>
              <a:rPr lang="en-US" sz="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Containerized, decoupled architecture enables independent scaling, deployment, and fault isolation.</a:t>
            </a:r>
            <a:endParaRPr lang="en-US" sz="7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A4667-C616-2CE5-80FD-4F08A94CC0F9}"/>
              </a:ext>
            </a:extLst>
          </p:cNvPr>
          <p:cNvSpPr/>
          <p:nvPr/>
        </p:nvSpPr>
        <p:spPr>
          <a:xfrm>
            <a:off x="7996554" y="4891979"/>
            <a:ext cx="1138554" cy="20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282848"/>
            <a:ext cx="4117851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GitHub Actions — CI Pipeline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33029" y="734467"/>
            <a:ext cx="73350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GitHub Actions runs </a:t>
            </a: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two automated workflows</a:t>
            </a: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on every </a:t>
            </a:r>
            <a:r>
              <a:rPr lang="en-US" sz="7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validating code quality before any deployment proceeds.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029" y="1037406"/>
            <a:ext cx="3317304" cy="331730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029" y="1037406"/>
            <a:ext cx="3317304" cy="33173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98281" y="1912069"/>
            <a:ext cx="17031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</a:t>
            </a:r>
            <a:r>
              <a:rPr lang="en-US" sz="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test.yml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4698281" y="2137767"/>
            <a:ext cx="3317304" cy="475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Runs backend unit tests via </a:t>
            </a:r>
            <a:r>
              <a:rPr lang="en-US" sz="7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endParaRPr lang="en-US" sz="75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Validates frontend build with </a:t>
            </a:r>
            <a:r>
              <a:rPr lang="en-US" sz="7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75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Tests Docker image build succeeds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4698281" y="2683222"/>
            <a:ext cx="17031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build.yml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4698281" y="2908920"/>
            <a:ext cx="3317304" cy="616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Builds &amp; tags Docker images</a:t>
            </a:r>
            <a:endParaRPr lang="en-US" sz="75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Pushes to </a:t>
            </a: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Docker Hub</a:t>
            </a:r>
            <a:endParaRPr lang="en-US" sz="75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Updates </a:t>
            </a: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Kubernetes manifests</a:t>
            </a:r>
            <a:endParaRPr lang="en-US" sz="75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Triggers </a:t>
            </a: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Jenkins</a:t>
            </a: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via webhook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1133029" y="4512320"/>
            <a:ext cx="6877869" cy="348258"/>
          </a:xfrm>
          <a:prstGeom prst="roundRect">
            <a:avLst>
              <a:gd name="adj" fmla="val 25760"/>
            </a:avLst>
          </a:prstGeom>
          <a:solidFill>
            <a:srgbClr val="CCE6D1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2669" y="4644851"/>
            <a:ext cx="124569" cy="99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56879" y="4607198"/>
            <a:ext cx="6911578" cy="14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🎯 </a:t>
            </a:r>
            <a:r>
              <a:rPr lang="en-US" sz="7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Takeaway:</a:t>
            </a:r>
            <a:r>
              <a:rPr lang="en-US" sz="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GitHub Actions gates every commit — only tested, buildable code reaches the deployment stage.</a:t>
            </a:r>
            <a:endParaRPr lang="en-US" sz="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3097C4-DE9F-0C92-C845-0BD04DA096A8}"/>
              </a:ext>
            </a:extLst>
          </p:cNvPr>
          <p:cNvSpPr/>
          <p:nvPr/>
        </p:nvSpPr>
        <p:spPr>
          <a:xfrm>
            <a:off x="7996554" y="4891979"/>
            <a:ext cx="1138554" cy="20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304800"/>
            <a:ext cx="3772942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Docker — Containerization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452" y="1287512"/>
            <a:ext cx="4288036" cy="2429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39929" y="776734"/>
            <a:ext cx="16755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Why Docker?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739929" y="995958"/>
            <a:ext cx="2199233" cy="657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Docker packages the app with all dependencies — eliminating </a:t>
            </a:r>
            <a:r>
              <a:rPr lang="en-US" sz="75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"works on my machine"</a:t>
            </a: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problems. Images are </a:t>
            </a: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portable, lightweight, and consistent</a:t>
            </a: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across environments.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739929" y="1720751"/>
            <a:ext cx="1675656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Backend Dockerfile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739929" y="1948383"/>
            <a:ext cx="2199233" cy="1115764"/>
          </a:xfrm>
          <a:prstGeom prst="roundRect">
            <a:avLst>
              <a:gd name="adj" fmla="val 7862"/>
            </a:avLst>
          </a:prstGeom>
          <a:solidFill>
            <a:srgbClr val="EDF2ED"/>
          </a:solidFill>
          <a:ln/>
        </p:spPr>
      </p:sp>
      <p:sp>
        <p:nvSpPr>
          <p:cNvPr id="8" name="Shape 5"/>
          <p:cNvSpPr/>
          <p:nvPr/>
        </p:nvSpPr>
        <p:spPr>
          <a:xfrm>
            <a:off x="5735092" y="1948383"/>
            <a:ext cx="2208907" cy="1115764"/>
          </a:xfrm>
          <a:prstGeom prst="roundRect">
            <a:avLst>
              <a:gd name="adj" fmla="val 1310"/>
            </a:avLst>
          </a:prstGeom>
          <a:solidFill>
            <a:srgbClr val="EDF2ED"/>
          </a:solidFill>
          <a:ln/>
        </p:spPr>
      </p:sp>
      <p:sp>
        <p:nvSpPr>
          <p:cNvPr id="9" name="Text 6"/>
          <p:cNvSpPr/>
          <p:nvPr/>
        </p:nvSpPr>
        <p:spPr>
          <a:xfrm>
            <a:off x="5856908" y="2045791"/>
            <a:ext cx="1965275" cy="920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D73A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node:18-alpine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D73A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D73A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D73A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 --only=production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D73A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D73A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EXPOSE 5000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D73A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 "server.js"]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739929" y="3139529"/>
            <a:ext cx="2598539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Frontend Dockerfile — Multi-Stage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739929" y="3367162"/>
            <a:ext cx="2199233" cy="852636"/>
          </a:xfrm>
          <a:prstGeom prst="roundRect">
            <a:avLst>
              <a:gd name="adj" fmla="val 10288"/>
            </a:avLst>
          </a:prstGeom>
          <a:solidFill>
            <a:srgbClr val="EDF2ED"/>
          </a:solidFill>
          <a:ln/>
        </p:spPr>
      </p:sp>
      <p:sp>
        <p:nvSpPr>
          <p:cNvPr id="12" name="Shape 9"/>
          <p:cNvSpPr/>
          <p:nvPr/>
        </p:nvSpPr>
        <p:spPr>
          <a:xfrm>
            <a:off x="5735092" y="3367162"/>
            <a:ext cx="2208907" cy="852636"/>
          </a:xfrm>
          <a:prstGeom prst="roundRect">
            <a:avLst>
              <a:gd name="adj" fmla="val 1715"/>
            </a:avLst>
          </a:prstGeom>
          <a:solidFill>
            <a:srgbClr val="EDF2ED"/>
          </a:solidFill>
          <a:ln/>
        </p:spPr>
      </p:sp>
      <p:sp>
        <p:nvSpPr>
          <p:cNvPr id="13" name="Text 10"/>
          <p:cNvSpPr/>
          <p:nvPr/>
        </p:nvSpPr>
        <p:spPr>
          <a:xfrm>
            <a:off x="5856908" y="3464570"/>
            <a:ext cx="1965275" cy="657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D73A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node:18 AS build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D73A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...npm run build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D73A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nginx:alpine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D73A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 /build /usr/share/nginx/html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1209452" y="4370561"/>
            <a:ext cx="6725022" cy="468139"/>
          </a:xfrm>
          <a:prstGeom prst="roundRect">
            <a:avLst>
              <a:gd name="adj" fmla="val 18738"/>
            </a:avLst>
          </a:prstGeom>
          <a:solidFill>
            <a:srgbClr val="CCE6D1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860" y="4497512"/>
            <a:ext cx="121816" cy="974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26084" y="4461867"/>
            <a:ext cx="6310982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🎯 </a:t>
            </a:r>
            <a:r>
              <a:rPr lang="en-US" sz="7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Takeaway:</a:t>
            </a:r>
            <a:r>
              <a:rPr lang="en-US" sz="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Multi-stage builds keep images lean — Alpine for backend, Nginx for frontend — reducing attack surface and image size.</a:t>
            </a:r>
            <a:endParaRPr lang="en-US" sz="7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E09940-C429-340F-9A0A-93F6C497E453}"/>
              </a:ext>
            </a:extLst>
          </p:cNvPr>
          <p:cNvSpPr/>
          <p:nvPr/>
        </p:nvSpPr>
        <p:spPr>
          <a:xfrm>
            <a:off x="7996554" y="4891979"/>
            <a:ext cx="1138554" cy="20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303461"/>
            <a:ext cx="3316039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Jenkins — CD Pipeline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56605" y="768251"/>
            <a:ext cx="7487915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GitHub Actions triggers Jenkins automatically. Jenkins executes </a:t>
            </a:r>
            <a:r>
              <a:rPr lang="en-US" sz="8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kubectl commands</a:t>
            </a: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roll out new versions to Kubernetes — zero manual steps.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56605" y="1063898"/>
            <a:ext cx="1812875" cy="164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📋</a:t>
            </a:r>
            <a:r>
              <a:rPr lang="en-US" sz="10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Jenkinsfile Stages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56605" y="1310283"/>
            <a:ext cx="3391049" cy="896094"/>
          </a:xfrm>
          <a:prstGeom prst="roundRect">
            <a:avLst>
              <a:gd name="adj" fmla="val 10234"/>
            </a:avLst>
          </a:prstGeom>
          <a:solidFill>
            <a:srgbClr val="FAFFFA"/>
          </a:solidFill>
          <a:ln w="14288">
            <a:solidFill>
              <a:srgbClr val="CED9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0893" y="1324570"/>
            <a:ext cx="3362474" cy="305619"/>
          </a:xfrm>
          <a:prstGeom prst="roundRect">
            <a:avLst>
              <a:gd name="adj" fmla="val 24397"/>
            </a:avLst>
          </a:prstGeom>
          <a:solidFill>
            <a:srgbClr val="E8F3E8"/>
          </a:solidFill>
          <a:ln/>
        </p:spPr>
      </p:sp>
      <p:sp>
        <p:nvSpPr>
          <p:cNvPr id="7" name="Text 5"/>
          <p:cNvSpPr/>
          <p:nvPr/>
        </p:nvSpPr>
        <p:spPr>
          <a:xfrm>
            <a:off x="2675706" y="1381869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2766" y="1703412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Deploy Backend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72766" y="1935882"/>
            <a:ext cx="3158728" cy="154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backend.yaml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56605" y="2279600"/>
            <a:ext cx="3391049" cy="896094"/>
          </a:xfrm>
          <a:prstGeom prst="roundRect">
            <a:avLst>
              <a:gd name="adj" fmla="val 10234"/>
            </a:avLst>
          </a:prstGeom>
          <a:solidFill>
            <a:srgbClr val="FAFFFA"/>
          </a:solidFill>
          <a:ln w="14288">
            <a:solidFill>
              <a:srgbClr val="CED9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0893" y="2293888"/>
            <a:ext cx="3362474" cy="305619"/>
          </a:xfrm>
          <a:prstGeom prst="roundRect">
            <a:avLst>
              <a:gd name="adj" fmla="val 24397"/>
            </a:avLst>
          </a:prstGeom>
          <a:solidFill>
            <a:srgbClr val="E8F3E8"/>
          </a:solidFill>
          <a:ln/>
        </p:spPr>
      </p:sp>
      <p:sp>
        <p:nvSpPr>
          <p:cNvPr id="12" name="Text 10"/>
          <p:cNvSpPr/>
          <p:nvPr/>
        </p:nvSpPr>
        <p:spPr>
          <a:xfrm>
            <a:off x="2675706" y="2351187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72766" y="2672730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Deploy Frontend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72766" y="2905199"/>
            <a:ext cx="3158728" cy="154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frontend.yaml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56605" y="3248918"/>
            <a:ext cx="3391049" cy="896094"/>
          </a:xfrm>
          <a:prstGeom prst="roundRect">
            <a:avLst>
              <a:gd name="adj" fmla="val 10234"/>
            </a:avLst>
          </a:prstGeom>
          <a:solidFill>
            <a:srgbClr val="FAFFFA"/>
          </a:solidFill>
          <a:ln w="14288">
            <a:solidFill>
              <a:srgbClr val="CED9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0893" y="3263205"/>
            <a:ext cx="3362474" cy="305619"/>
          </a:xfrm>
          <a:prstGeom prst="roundRect">
            <a:avLst>
              <a:gd name="adj" fmla="val 24397"/>
            </a:avLst>
          </a:prstGeom>
          <a:solidFill>
            <a:srgbClr val="E8F3E8"/>
          </a:solidFill>
          <a:ln/>
        </p:spPr>
      </p:sp>
      <p:sp>
        <p:nvSpPr>
          <p:cNvPr id="17" name="Text 15"/>
          <p:cNvSpPr/>
          <p:nvPr/>
        </p:nvSpPr>
        <p:spPr>
          <a:xfrm>
            <a:off x="2675706" y="3320504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2766" y="3642047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Verify Deployment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72766" y="3874517"/>
            <a:ext cx="3158728" cy="154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status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00960" y="1063898"/>
            <a:ext cx="17308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Sample Jenkinsfile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0960" y="1305520"/>
            <a:ext cx="3391049" cy="3004691"/>
          </a:xfrm>
          <a:prstGeom prst="roundRect">
            <a:avLst>
              <a:gd name="adj" fmla="val 3052"/>
            </a:avLst>
          </a:prstGeom>
          <a:solidFill>
            <a:srgbClr val="EDF2ED"/>
          </a:solidFill>
          <a:ln/>
        </p:spPr>
      </p:sp>
      <p:sp>
        <p:nvSpPr>
          <p:cNvPr id="22" name="Shape 20"/>
          <p:cNvSpPr/>
          <p:nvPr/>
        </p:nvSpPr>
        <p:spPr>
          <a:xfrm>
            <a:off x="4695899" y="1305520"/>
            <a:ext cx="3401169" cy="3004691"/>
          </a:xfrm>
          <a:prstGeom prst="roundRect">
            <a:avLst>
              <a:gd name="adj" fmla="val 509"/>
            </a:avLst>
          </a:prstGeom>
          <a:solidFill>
            <a:srgbClr val="EDF2ED"/>
          </a:solidFill>
          <a:ln/>
        </p:spPr>
      </p:sp>
      <p:sp>
        <p:nvSpPr>
          <p:cNvPr id="23" name="Text 21"/>
          <p:cNvSpPr/>
          <p:nvPr/>
        </p:nvSpPr>
        <p:spPr>
          <a:xfrm>
            <a:off x="4823222" y="1407393"/>
            <a:ext cx="3146524" cy="2800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{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 any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stages {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stage('Deploy Backend') {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{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 'kubectl apply -f backend.yaml'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stage('Deploy Frontend') {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{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 'kubectl apply -f frontend.yaml'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stage('Verify') {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{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 'kubectl rollout status deployment/backend'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56605" y="4474964"/>
            <a:ext cx="7030715" cy="365001"/>
          </a:xfrm>
          <a:prstGeom prst="roundRect">
            <a:avLst>
              <a:gd name="adj" fmla="val 25125"/>
            </a:avLst>
          </a:prstGeom>
          <a:solidFill>
            <a:srgbClr val="CCE6D1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478" y="4608388"/>
            <a:ext cx="127322" cy="101873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387673" y="4573637"/>
            <a:ext cx="7054974" cy="149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🎯 </a:t>
            </a:r>
            <a:r>
              <a:rPr lang="en-US" sz="8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Takeaway:</a:t>
            </a:r>
            <a:r>
              <a:rPr lang="en-US" sz="8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Jenkins bridges CI and Kubernetes — orchestrating deployments and verifying rollout success automatically.</a:t>
            </a:r>
            <a:endParaRPr lang="en-US" sz="8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213CCF-388A-C40B-04FA-8FED585C2B86}"/>
              </a:ext>
            </a:extLst>
          </p:cNvPr>
          <p:cNvSpPr/>
          <p:nvPr/>
        </p:nvSpPr>
        <p:spPr>
          <a:xfrm>
            <a:off x="7996554" y="4891979"/>
            <a:ext cx="1138554" cy="20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45207"/>
            <a:ext cx="6140648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Kubernetes — Container Orchestration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6" y="1032049"/>
            <a:ext cx="5067672" cy="28716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51488" y="939031"/>
            <a:ext cx="241771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My Setup: K3s on AWS EC2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51488" y="1212503"/>
            <a:ext cx="2599060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K3s</a:t>
            </a: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is a lightweight, CNCF-certified Kubernetes — ideal for learning and small-scale production on a single EC2 instance.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951488" y="1806997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Features in Use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51488" y="2080468"/>
            <a:ext cx="2599060" cy="961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Self-Healing:</a:t>
            </a: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Failed pods auto-restart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Scaling:</a:t>
            </a: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2 replicas per deployment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Rolling Updates:</a:t>
            </a: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Zero-downtime deploys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Manifests:</a:t>
            </a: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9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namespace.yaml</a:t>
            </a: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9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backend.yaml</a:t>
            </a: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9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frontend.yaml</a:t>
            </a: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9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mongodb.yaml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51488" y="3135734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Verify with kubectl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51488" y="3420889"/>
            <a:ext cx="2599060" cy="564207"/>
          </a:xfrm>
          <a:prstGeom prst="roundRect">
            <a:avLst>
              <a:gd name="adj" fmla="val 18374"/>
            </a:avLst>
          </a:prstGeom>
          <a:solidFill>
            <a:srgbClr val="EDF2ED"/>
          </a:solidFill>
          <a:ln/>
        </p:spPr>
      </p:sp>
      <p:sp>
        <p:nvSpPr>
          <p:cNvPr id="10" name="Shape 7"/>
          <p:cNvSpPr/>
          <p:nvPr/>
        </p:nvSpPr>
        <p:spPr>
          <a:xfrm>
            <a:off x="5945758" y="3420889"/>
            <a:ext cx="2610520" cy="564207"/>
          </a:xfrm>
          <a:prstGeom prst="roundRect">
            <a:avLst>
              <a:gd name="adj" fmla="val 3062"/>
            </a:avLst>
          </a:prstGeom>
          <a:solidFill>
            <a:srgbClr val="EDF2ED"/>
          </a:solidFill>
          <a:ln/>
        </p:spPr>
      </p:sp>
      <p:sp>
        <p:nvSpPr>
          <p:cNvPr id="11" name="Text 8"/>
          <p:cNvSpPr/>
          <p:nvPr/>
        </p:nvSpPr>
        <p:spPr>
          <a:xfrm>
            <a:off x="6089675" y="3536007"/>
            <a:ext cx="232268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-n nexnote</a:t>
            </a:r>
            <a:endParaRPr lang="en-US" sz="9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deployments -n nexnote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8066" y="4195539"/>
            <a:ext cx="7947794" cy="602679"/>
          </a:xfrm>
          <a:prstGeom prst="roundRect">
            <a:avLst>
              <a:gd name="adj" fmla="val 17201"/>
            </a:avLst>
          </a:prstGeom>
          <a:solidFill>
            <a:srgbClr val="CCE6D1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184" y="4352925"/>
            <a:ext cx="143917" cy="11511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72220" y="4317802"/>
            <a:ext cx="7458521" cy="338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🎯 </a:t>
            </a:r>
            <a:r>
              <a:rPr lang="en-US" sz="9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Takeaway:</a:t>
            </a:r>
            <a:r>
              <a:rPr lang="en-US" sz="9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Kubernetes automates container lifecycle management — healing, scaling, and updating without manual intervention.</a:t>
            </a:r>
            <a:endParaRPr lang="en-US" sz="9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F5387D-50C5-C41B-DDFC-85F8AF7AAF32}"/>
              </a:ext>
            </a:extLst>
          </p:cNvPr>
          <p:cNvSpPr/>
          <p:nvPr/>
        </p:nvSpPr>
        <p:spPr>
          <a:xfrm>
            <a:off x="7996554" y="4891979"/>
            <a:ext cx="1138554" cy="20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324371"/>
            <a:ext cx="596607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Rolling Update — Zero Downtime Deployment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1285875" y="750019"/>
            <a:ext cx="7029450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</a:t>
            </a: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rolling update</a:t>
            </a: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gradually replaces old pods with new ones — users never experience an interruption.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547" y="949375"/>
            <a:ext cx="5110907" cy="233905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2734" y="1533375"/>
            <a:ext cx="328603" cy="3286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29969" y="2640560"/>
            <a:ext cx="959520" cy="369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Old Pod Terminated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9741" y="1533991"/>
            <a:ext cx="328603" cy="32860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20712" y="2640560"/>
            <a:ext cx="959520" cy="369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Traffic Shifts</a:t>
            </a:r>
            <a:endParaRPr lang="en-US" sz="11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17055" y="1533991"/>
            <a:ext cx="328603" cy="32860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518027" y="2640560"/>
            <a:ext cx="959519" cy="369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Ready Probe Passed</a:t>
            </a:r>
            <a:endParaRPr lang="en-US" sz="11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7798" y="1533991"/>
            <a:ext cx="328603" cy="32860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289053" y="2640560"/>
            <a:ext cx="959519" cy="369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New Pod Created</a:t>
            </a:r>
            <a:endParaRPr lang="en-US" sz="1150" dirty="0"/>
          </a:p>
        </p:txBody>
      </p:sp>
      <p:sp>
        <p:nvSpPr>
          <p:cNvPr id="13" name="Text 6"/>
          <p:cNvSpPr/>
          <p:nvPr/>
        </p:nvSpPr>
        <p:spPr>
          <a:xfrm>
            <a:off x="1285875" y="3424386"/>
            <a:ext cx="193580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Trigger a Rolling Update</a:t>
            </a:r>
            <a:endParaRPr lang="en-US" sz="900" dirty="0"/>
          </a:p>
        </p:txBody>
      </p:sp>
      <p:sp>
        <p:nvSpPr>
          <p:cNvPr id="14" name="Shape 7"/>
          <p:cNvSpPr/>
          <p:nvPr/>
        </p:nvSpPr>
        <p:spPr>
          <a:xfrm>
            <a:off x="1285875" y="3645173"/>
            <a:ext cx="3169965" cy="700087"/>
          </a:xfrm>
          <a:prstGeom prst="roundRect">
            <a:avLst>
              <a:gd name="adj" fmla="val 12245"/>
            </a:avLst>
          </a:prstGeom>
          <a:solidFill>
            <a:srgbClr val="EDF2ED"/>
          </a:solidFill>
          <a:ln/>
        </p:spPr>
      </p:sp>
      <p:sp>
        <p:nvSpPr>
          <p:cNvPr id="15" name="Shape 8"/>
          <p:cNvSpPr/>
          <p:nvPr/>
        </p:nvSpPr>
        <p:spPr>
          <a:xfrm>
            <a:off x="1281113" y="3645173"/>
            <a:ext cx="3179490" cy="700087"/>
          </a:xfrm>
          <a:prstGeom prst="roundRect">
            <a:avLst>
              <a:gd name="adj" fmla="val 2041"/>
            </a:avLst>
          </a:prstGeom>
          <a:solidFill>
            <a:srgbClr val="EDF2ED"/>
          </a:solidFill>
          <a:ln/>
        </p:spPr>
      </p:sp>
      <p:sp>
        <p:nvSpPr>
          <p:cNvPr id="16" name="Text 9"/>
          <p:cNvSpPr/>
          <p:nvPr/>
        </p:nvSpPr>
        <p:spPr>
          <a:xfrm>
            <a:off x="1400175" y="3740423"/>
            <a:ext cx="2941365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set image deployment/backend \</a:t>
            </a:r>
            <a:endParaRPr lang="en-US" sz="7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backend=myuser/nexnote-backend:v2</a:t>
            </a:r>
            <a:endParaRPr lang="en-US" sz="750" dirty="0"/>
          </a:p>
          <a:p>
            <a:pPr marL="0" indent="0" algn="l">
              <a:lnSpc>
                <a:spcPct val="111000"/>
              </a:lnSpc>
              <a:buNone/>
            </a:pPr>
            <a:endParaRPr lang="en-US" sz="7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status deployment/backend</a:t>
            </a:r>
            <a:endParaRPr lang="en-US" sz="750" dirty="0"/>
          </a:p>
        </p:txBody>
      </p:sp>
      <p:sp>
        <p:nvSpPr>
          <p:cNvPr id="17" name="Text 10"/>
          <p:cNvSpPr/>
          <p:nvPr/>
        </p:nvSpPr>
        <p:spPr>
          <a:xfrm>
            <a:off x="4692923" y="3424386"/>
            <a:ext cx="16478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What Happens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4692923" y="3637211"/>
            <a:ext cx="3169965" cy="576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New pod starts with updated image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Readiness probe confirms health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Traffic routes to new pod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Old pod gracefully terminates</a:t>
            </a:r>
            <a:endParaRPr lang="en-US" sz="750" dirty="0"/>
          </a:p>
        </p:txBody>
      </p:sp>
      <p:sp>
        <p:nvSpPr>
          <p:cNvPr id="19" name="Shape 12"/>
          <p:cNvSpPr/>
          <p:nvPr/>
        </p:nvSpPr>
        <p:spPr>
          <a:xfrm>
            <a:off x="1285875" y="4489177"/>
            <a:ext cx="6572250" cy="329952"/>
          </a:xfrm>
          <a:prstGeom prst="roundRect">
            <a:avLst>
              <a:gd name="adj" fmla="val 25981"/>
            </a:avLst>
          </a:prstGeom>
          <a:solidFill>
            <a:srgbClr val="CCE6D1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1125" y="4610621"/>
            <a:ext cx="119062" cy="952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595438" y="4576986"/>
            <a:ext cx="6624638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🎯 </a:t>
            </a:r>
            <a:r>
              <a:rPr lang="en-US" sz="7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Takeaway:</a:t>
            </a:r>
            <a:r>
              <a:rPr lang="en-US" sz="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Rolling updates ensure seamless deployments — new pods are ready before old ones are removed.</a:t>
            </a:r>
            <a:endParaRPr lang="en-US" sz="7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AD513C-250D-06C0-F319-26B07BE6B8CC}"/>
              </a:ext>
            </a:extLst>
          </p:cNvPr>
          <p:cNvSpPr/>
          <p:nvPr/>
        </p:nvSpPr>
        <p:spPr>
          <a:xfrm>
            <a:off x="7996554" y="4891979"/>
            <a:ext cx="1138554" cy="20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419546"/>
            <a:ext cx="6395219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Monitoring — Prometheus + Grafana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49610" y="1111969"/>
            <a:ext cx="2063130" cy="20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📊</a:t>
            </a:r>
            <a:r>
              <a:rPr lang="en-US" sz="1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Stack Overview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49610" y="1433810"/>
            <a:ext cx="396567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Deployed via </a:t>
            </a:r>
            <a:r>
              <a:rPr lang="en-US" sz="10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kube-prometheus-stack</a:t>
            </a: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Helm chart — collects metrics from all pods, nodes, and containers.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49610" y="1942058"/>
            <a:ext cx="294992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6 Custom Grafana Dashboards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49610" y="2259137"/>
            <a:ext cx="3965674" cy="66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Deployment Replicas &amp; Pod Status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Pod Restarts &amp; Running Pods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CPU Usage &amp; Memory Usage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9610" y="3044726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B4540"/>
                </a:solidFill>
                <a:highlight>
                  <a:srgbClr val="FFFF00"/>
                </a:highlight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Alertmanager</a:t>
            </a:r>
            <a:endParaRPr lang="en-US" sz="1250" dirty="0">
              <a:highlight>
                <a:srgbClr val="FFFF00"/>
              </a:highlight>
            </a:endParaRPr>
          </a:p>
        </p:txBody>
      </p:sp>
      <p:sp>
        <p:nvSpPr>
          <p:cNvPr id="8" name="Text 6"/>
          <p:cNvSpPr/>
          <p:nvPr/>
        </p:nvSpPr>
        <p:spPr>
          <a:xfrm>
            <a:off x="449610" y="3361804"/>
            <a:ext cx="442287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Triggers alerts on pod failures, high CPU, or restarts.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33479" y="1111969"/>
            <a:ext cx="245849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Sample PromQL Queries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33479" y="1443633"/>
            <a:ext cx="3965674" cy="1236538"/>
          </a:xfrm>
          <a:prstGeom prst="roundRect">
            <a:avLst>
              <a:gd name="adj" fmla="val 9351"/>
            </a:avLst>
          </a:prstGeom>
          <a:solidFill>
            <a:srgbClr val="EDF2ED"/>
          </a:solidFill>
          <a:ln/>
        </p:spPr>
      </p:sp>
      <p:sp>
        <p:nvSpPr>
          <p:cNvPr id="11" name="Shape 9"/>
          <p:cNvSpPr/>
          <p:nvPr/>
        </p:nvSpPr>
        <p:spPr>
          <a:xfrm>
            <a:off x="4727079" y="1443633"/>
            <a:ext cx="3978473" cy="1236538"/>
          </a:xfrm>
          <a:prstGeom prst="roundRect">
            <a:avLst>
              <a:gd name="adj" fmla="val 1559"/>
            </a:avLst>
          </a:prstGeom>
          <a:solidFill>
            <a:srgbClr val="EDF2ED"/>
          </a:solidFill>
          <a:ln/>
        </p:spPr>
      </p:sp>
      <p:sp>
        <p:nvSpPr>
          <p:cNvPr id="12" name="Text 10"/>
          <p:cNvSpPr/>
          <p:nvPr/>
        </p:nvSpPr>
        <p:spPr>
          <a:xfrm>
            <a:off x="4887664" y="1572071"/>
            <a:ext cx="3657302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container_cpu_usage_seconds_total{namespace="nexnote"}</a:t>
            </a:r>
            <a:endParaRPr lang="en-US" sz="1000" dirty="0"/>
          </a:p>
          <a:p>
            <a:pPr marL="0" indent="0" algn="l">
              <a:lnSpc>
                <a:spcPct val="127000"/>
              </a:lnSpc>
              <a:buNone/>
            </a:pPr>
            <a:endParaRPr lang="en-US" sz="10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kube_pod_status_phase{namespace="nexnote"}</a:t>
            </a:r>
            <a:endParaRPr lang="en-US" sz="1000" dirty="0"/>
          </a:p>
          <a:p>
            <a:pPr marL="0" indent="0" algn="l">
              <a:lnSpc>
                <a:spcPct val="127000"/>
              </a:lnSpc>
              <a:buNone/>
            </a:pPr>
            <a:endParaRPr lang="en-US" sz="10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rate(container_cpu_usage_seconds_total[5m])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33479" y="2811140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Metrics Collected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33479" y="3128218"/>
            <a:ext cx="3965674" cy="905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CPU &amp; memory per pod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Pod restart count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Replica availability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Node health status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9610" y="4205734"/>
            <a:ext cx="8244780" cy="518145"/>
          </a:xfrm>
          <a:prstGeom prst="roundRect">
            <a:avLst>
              <a:gd name="adj" fmla="val 22316"/>
            </a:avLst>
          </a:prstGeom>
          <a:solidFill>
            <a:srgbClr val="CCE6D1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48" y="4387155"/>
            <a:ext cx="160586" cy="12843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67073" y="4354190"/>
            <a:ext cx="81560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🎯 </a:t>
            </a:r>
            <a:r>
              <a:rPr lang="en-US" sz="10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Takeaway:</a:t>
            </a: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Prometheus + Grafana provides full observability — catching issues before they become outages.</a:t>
            </a:r>
            <a:endParaRPr lang="en-US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4CF0DC-3710-AFBE-5A4D-ACD62D8A494B}"/>
              </a:ext>
            </a:extLst>
          </p:cNvPr>
          <p:cNvSpPr/>
          <p:nvPr/>
        </p:nvSpPr>
        <p:spPr>
          <a:xfrm>
            <a:off x="7996554" y="4891979"/>
            <a:ext cx="1138554" cy="20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343198"/>
            <a:ext cx="3131121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Results &amp; Conclusion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133029" y="794817"/>
            <a:ext cx="3403922" cy="532805"/>
          </a:xfrm>
          <a:prstGeom prst="roundRect">
            <a:avLst>
              <a:gd name="adj" fmla="val 16838"/>
            </a:avLst>
          </a:prstGeom>
          <a:solidFill>
            <a:srgbClr val="E8F3E8"/>
          </a:solidFill>
          <a:ln/>
        </p:spPr>
      </p:sp>
      <p:sp>
        <p:nvSpPr>
          <p:cNvPr id="4" name="Text 2"/>
          <p:cNvSpPr/>
          <p:nvPr/>
        </p:nvSpPr>
        <p:spPr>
          <a:xfrm>
            <a:off x="1232669" y="894457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✅</a:t>
            </a:r>
            <a:r>
              <a:rPr lang="en-US" sz="9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Complete CI/CD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232669" y="1092175"/>
            <a:ext cx="3204642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Push → Test → Build → Deploy → Monitor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606975" y="794817"/>
            <a:ext cx="3403922" cy="532805"/>
          </a:xfrm>
          <a:prstGeom prst="roundRect">
            <a:avLst>
              <a:gd name="adj" fmla="val 16838"/>
            </a:avLst>
          </a:prstGeom>
          <a:solidFill>
            <a:srgbClr val="E8F3E8"/>
          </a:solidFill>
          <a:ln/>
        </p:spPr>
      </p:sp>
      <p:sp>
        <p:nvSpPr>
          <p:cNvPr id="7" name="Text 5"/>
          <p:cNvSpPr/>
          <p:nvPr/>
        </p:nvSpPr>
        <p:spPr>
          <a:xfrm>
            <a:off x="4706615" y="894457"/>
            <a:ext cx="1347788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🚀</a:t>
            </a:r>
            <a:r>
              <a:rPr lang="en-US" sz="9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Zero Manual Steps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06615" y="1092175"/>
            <a:ext cx="3204642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Fully automated from commit to cluster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33029" y="1397645"/>
            <a:ext cx="3403922" cy="532805"/>
          </a:xfrm>
          <a:prstGeom prst="roundRect">
            <a:avLst>
              <a:gd name="adj" fmla="val 16838"/>
            </a:avLst>
          </a:prstGeom>
          <a:solidFill>
            <a:srgbClr val="E8F3E8"/>
          </a:solidFill>
          <a:ln/>
        </p:spPr>
      </p:sp>
      <p:sp>
        <p:nvSpPr>
          <p:cNvPr id="10" name="Text 8"/>
          <p:cNvSpPr/>
          <p:nvPr/>
        </p:nvSpPr>
        <p:spPr>
          <a:xfrm>
            <a:off x="1232669" y="1497285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⚡</a:t>
            </a:r>
            <a:r>
              <a:rPr lang="en-US" sz="9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Zero Downtime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32669" y="1695004"/>
            <a:ext cx="3204642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Rolling updates keep the app always live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06975" y="1397645"/>
            <a:ext cx="3403922" cy="532805"/>
          </a:xfrm>
          <a:prstGeom prst="roundRect">
            <a:avLst>
              <a:gd name="adj" fmla="val 16838"/>
            </a:avLst>
          </a:prstGeom>
          <a:solidFill>
            <a:srgbClr val="E8F3E8"/>
          </a:solidFill>
          <a:ln/>
        </p:spPr>
      </p:sp>
      <p:sp>
        <p:nvSpPr>
          <p:cNvPr id="13" name="Text 11"/>
          <p:cNvSpPr/>
          <p:nvPr/>
        </p:nvSpPr>
        <p:spPr>
          <a:xfrm>
            <a:off x="4706615" y="1497285"/>
            <a:ext cx="1255142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📈</a:t>
            </a:r>
            <a:r>
              <a:rPr lang="en-US" sz="9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Real-Time Alerts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06615" y="1695004"/>
            <a:ext cx="3204642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Prometheus + Grafana + Alertmanager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33029" y="2079278"/>
            <a:ext cx="17031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🔧</a:t>
            </a:r>
            <a:r>
              <a:rPr lang="en-US" sz="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Tools Used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133029" y="2313756"/>
            <a:ext cx="3317304" cy="1844873"/>
          </a:xfrm>
          <a:prstGeom prst="roundRect">
            <a:avLst>
              <a:gd name="adj" fmla="val 486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7791" y="2318519"/>
            <a:ext cx="3307779" cy="2294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237506" y="2365325"/>
            <a:ext cx="190939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Frontend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893740" y="2365325"/>
            <a:ext cx="190939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React + Nginx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137791" y="2547938"/>
            <a:ext cx="3307779" cy="2294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237506" y="2594744"/>
            <a:ext cx="190939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Backend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893740" y="2594744"/>
            <a:ext cx="190939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Node.js + Express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137791" y="2777356"/>
            <a:ext cx="3307779" cy="2294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237506" y="2824163"/>
            <a:ext cx="190939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Database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893740" y="2824163"/>
            <a:ext cx="190939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MongoDB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137791" y="3006775"/>
            <a:ext cx="3307779" cy="2294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237506" y="3053581"/>
            <a:ext cx="190939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Container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893740" y="3053581"/>
            <a:ext cx="190939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Docker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137791" y="3236193"/>
            <a:ext cx="3307779" cy="2294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237506" y="3283000"/>
            <a:ext cx="190939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Orchestration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893740" y="3283000"/>
            <a:ext cx="190939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Kubernetes (K3s)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137791" y="3465612"/>
            <a:ext cx="3307779" cy="2294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237506" y="3512418"/>
            <a:ext cx="190939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CI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893740" y="3512418"/>
            <a:ext cx="190939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GitHub Actions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137791" y="3695030"/>
            <a:ext cx="3307779" cy="2294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237506" y="3741837"/>
            <a:ext cx="190939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893740" y="3741837"/>
            <a:ext cx="190939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Jenkins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137791" y="3924449"/>
            <a:ext cx="3307779" cy="2294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237506" y="3971255"/>
            <a:ext cx="190939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Monitoring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893740" y="3971255"/>
            <a:ext cx="190939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Prometheus + Grafana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698281" y="2079278"/>
            <a:ext cx="17031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🔭</a:t>
            </a:r>
            <a:r>
              <a:rPr lang="en-US" sz="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Future Scope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698281" y="2304976"/>
            <a:ext cx="3317304" cy="616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ArgoCD</a:t>
            </a: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GitOps-based continuous delivery</a:t>
            </a:r>
            <a:endParaRPr lang="en-US" sz="75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Slack Alerts</a:t>
            </a: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Real-time failure notifications</a:t>
            </a:r>
            <a:endParaRPr lang="en-US" sz="75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Load Testing</a:t>
            </a: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k6 for performance validation</a:t>
            </a:r>
            <a:endParaRPr lang="en-US" sz="75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Horizontal Pod Autoscaler</a:t>
            </a: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Auto-scaling on load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133029" y="4316239"/>
            <a:ext cx="6877869" cy="484063"/>
          </a:xfrm>
          <a:prstGeom prst="roundRect">
            <a:avLst>
              <a:gd name="adj" fmla="val 18533"/>
            </a:avLst>
          </a:prstGeom>
          <a:solidFill>
            <a:srgbClr val="CCE6D1"/>
          </a:solidFill>
          <a:ln/>
        </p:spPr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669" y="4448770"/>
            <a:ext cx="124569" cy="9964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1456879" y="4411117"/>
            <a:ext cx="6454378" cy="276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🎯 </a:t>
            </a:r>
            <a:r>
              <a:rPr lang="en-US" sz="7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Takeaway:</a:t>
            </a:r>
            <a:r>
              <a:rPr lang="en-US" sz="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NexNote proves that a student project can achieve production-grade DevOps — automated, observable, and resilient.</a:t>
            </a:r>
            <a:endParaRPr lang="en-US" sz="75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3DA2893-BE6A-6417-D865-A36E1A66D31E}"/>
              </a:ext>
            </a:extLst>
          </p:cNvPr>
          <p:cNvSpPr/>
          <p:nvPr/>
        </p:nvSpPr>
        <p:spPr>
          <a:xfrm>
            <a:off x="7996554" y="4891979"/>
            <a:ext cx="1138554" cy="20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1121</Words>
  <Application>Microsoft Office PowerPoint</Application>
  <PresentationFormat>On-screen Show (16:9)</PresentationFormat>
  <Paragraphs>200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Fraunces ExtraBold</vt:lpstr>
      <vt:lpstr>Nobile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Anjali kumari</cp:lastModifiedBy>
  <cp:revision>6</cp:revision>
  <dcterms:created xsi:type="dcterms:W3CDTF">2026-05-21T05:58:02Z</dcterms:created>
  <dcterms:modified xsi:type="dcterms:W3CDTF">2026-05-29T05:10:36Z</dcterms:modified>
</cp:coreProperties>
</file>